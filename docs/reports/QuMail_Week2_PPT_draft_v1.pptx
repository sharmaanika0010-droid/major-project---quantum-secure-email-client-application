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5600" y="0"/>
            <a:ext cx="5486400" cy="5486400"/>
          </a:xfrm>
          <a:prstGeom prst="ellipse">
            <a:avLst/>
          </a:prstGeom>
          <a:solidFill>
            <a:srgbClr val="2A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0" y="457200"/>
            <a:ext cx="6400800" cy="6400800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3B7"/>
                </a:solidFill>
                <a:latin typeface="Segoe UI"/>
              </a:defRPr>
            </a:pPr>
            <a:r>
              <a:rPr dirty="0"/>
              <a:t>MAJOR PROJECT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6600" b="1">
                <a:solidFill>
                  <a:srgbClr val="F5F7FA"/>
                </a:solidFill>
                <a:latin typeface="Segoe UI"/>
              </a:defRPr>
            </a:pPr>
            <a:r>
              <a:t>QuMail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9AA6B8"/>
                </a:solidFill>
                <a:latin typeface="Segoe UI"/>
              </a:defRPr>
            </a:pPr>
            <a:r>
              <a:rPr dirty="0"/>
              <a:t>Quantum-secure email for everyday mail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5F7FA"/>
                </a:solidFill>
                <a:latin typeface="Segoe UI"/>
              </a:defRPr>
            </a:pPr>
            <a:r>
              <a:t>Anika Sharma   ·   Amit Chouhan   ·   Umang Goswami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651760"/>
            <a:ext cx="1463040" cy="1188720"/>
          </a:xfrm>
          <a:prstGeom prst="roundRect">
            <a:avLst>
              <a:gd name="adj" fmla="val 20000"/>
            </a:avLst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9646920" y="1920240"/>
            <a:ext cx="1005840" cy="1005840"/>
          </a:xfrm>
          <a:prstGeom prst="arc">
            <a:avLst/>
          </a:prstGeom>
          <a:solidFill>
            <a:srgbClr val="0E1525"/>
          </a:solidFill>
          <a:ln w="127000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12680" y="3063240"/>
            <a:ext cx="274320" cy="274320"/>
          </a:xfrm>
          <a:prstGeom prst="ellipse">
            <a:avLst/>
          </a:prstGeom>
          <a:solidFill>
            <a:srgbClr val="0E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Why QuMail?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194560"/>
            <a:ext cx="502920" cy="502920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5F7F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F7FA"/>
                </a:solidFill>
                <a:latin typeface="Segoe UI"/>
              </a:defRPr>
            </a:pPr>
            <a: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Email encryption relies on RSA / ECC.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A large quantum computer breaks both.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5F7F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F7FA"/>
                </a:solidFill>
                <a:latin typeface="Segoe UI"/>
              </a:defRPr>
            </a:pPr>
            <a: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747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QKD gives keys that are secure by physics.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No common mail client can use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2194560"/>
            <a:ext cx="502920" cy="502920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E152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ED3B7"/>
                </a:solidFill>
                <a:latin typeface="Segoe UI"/>
              </a:defRPr>
            </a:pPr>
            <a:r>
              <a:t>Our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A desktop client for Gmail / Yahoo.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Pick a security level per mail, keys come from a Key Manager.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D3B7"/>
                </a:solidFill>
                <a:latin typeface="Segoe UI"/>
              </a:defRPr>
            </a:pPr>
            <a:r>
              <a:t>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Compose mail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Choose level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429000"/>
            <a:ext cx="28346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37744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2560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D3B7"/>
                </a:solidFill>
                <a:latin typeface="Segoe UI"/>
              </a:defRPr>
            </a:pPr>
            <a:r>
              <a:t>Key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632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Issues quantum key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Returns key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10328" y="3429000"/>
            <a:ext cx="28346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79" y="237744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D3B7"/>
                </a:solidFill>
                <a:latin typeface="Segoe UI"/>
              </a:defRPr>
            </a:pPr>
            <a:r>
              <a:t>Encrypt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19" y="30632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AES-GCM / OTP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Envelope + header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2048" y="3429000"/>
            <a:ext cx="283463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237744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560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D3B7"/>
                </a:solidFill>
                <a:latin typeface="Segoe UI"/>
              </a:defRPr>
            </a:pPr>
            <a:r>
              <a:t>Mail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0632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Sees only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ciphertext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73768" y="3429000"/>
            <a:ext cx="28346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75519" y="237744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19" y="2560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D3B7"/>
                </a:solidFill>
                <a:latin typeface="Segoe UI"/>
              </a:defRPr>
            </a:pPr>
            <a:r>
              <a:t>Receiver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0632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Reads key ID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Fetches key, decrypts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4937760"/>
            <a:ext cx="475488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7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7C9CFF"/>
                </a:solidFill>
                <a:latin typeface="Segoe UI"/>
              </a:defRPr>
            </a:pPr>
            <a:r>
              <a:t>X-QuMail-Level: 3     X-QuMail-KeyID: QK0003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Only the key ID travels with the mail. Both sides fetch the same key from the Key Manager; the key is consumed afterwards.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Four security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9AA6B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No encryption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9AA6B8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7C9C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00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AES-256-GCM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0332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Quantum key via HKDF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93776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7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7C9CFF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2ED3B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One-Time Pad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Key as long as the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93776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2ED3B7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01168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F5A62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00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Post-quantum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70332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Hybrid scheme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93776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F5A623"/>
                </a:solidFill>
                <a:latin typeface="Segoe UI"/>
              </a:defRPr>
            </a:pPr>
            <a:r>
              <a:t>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Week 1 —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256032" cy="256032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5F7FA"/>
                </a:solidFill>
                <a:latin typeface="Segoe UI"/>
              </a:defRPr>
            </a:pPr>
            <a:r>
              <a:t>Jira board, 30-day plan, 6 sprints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70632"/>
            <a:ext cx="256032" cy="256032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6974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5F7FA"/>
                </a:solidFill>
                <a:latin typeface="Segoe UI"/>
              </a:defRPr>
            </a:pPr>
            <a:r>
              <a:t>GitHub repo with branch strategy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56432"/>
            <a:ext cx="256032" cy="256032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5F7FA"/>
                </a:solidFill>
                <a:latin typeface="Segoe UI"/>
              </a:defRPr>
            </a:pPr>
            <a:r>
              <a:t>UML: use case, activity, sequence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42232"/>
            <a:ext cx="256032" cy="256032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5F7FA"/>
                </a:solidFill>
                <a:latin typeface="Segoe UI"/>
              </a:defRPr>
            </a:pPr>
            <a:r>
              <a:t>Key Manager simulator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28032"/>
            <a:ext cx="256032" cy="256032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5F7FA"/>
                </a:solidFill>
                <a:latin typeface="Segoe UI"/>
              </a:defRPr>
            </a:pPr>
            <a:r>
              <a:t>Login screen + Level 1 mail over Gmail</a:t>
            </a:r>
          </a:p>
        </p:txBody>
      </p:sp>
      <p:pic>
        <p:nvPicPr>
          <p:cNvPr id="16" name="Picture 15" descr="sequence_diagram_v1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4378"/>
            <a:ext cx="5577840" cy="3835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Week 2 — encrypted mail,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Attachments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send · receive · 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AES-256-GCM with quantum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One-Time Pad + integrity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Key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empty / offline states, safe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420624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4251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CI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5488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41 tests on every push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4206240"/>
            <a:ext cx="73152" cy="109728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5F7FA"/>
                </a:solidFill>
                <a:latin typeface="Segoe UI"/>
              </a:defRPr>
            </a:pPr>
            <a:r>
              <a:t>Test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plan + coverage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5F7FA"/>
                </a:solidFill>
                <a:latin typeface="Segoe UI"/>
              </a:defRPr>
            </a:pPr>
            <a:r>
              <a:t>Inbox &amp; live key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Key Manager status is always visible — green, low, empty or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10661904" cy="292608"/>
          </a:xfrm>
          <a:prstGeom prst="rect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" y="1828800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" y="1828800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63550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2ED3B7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68" y="2083117"/>
            <a:ext cx="10616184" cy="4099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5F7FA"/>
                </a:solidFill>
                <a:latin typeface="Segoe UI"/>
              </a:defRPr>
            </a:pPr>
            <a:r>
              <a:rPr dirty="0"/>
              <a:t>Level 2 — what Gmail sees </a:t>
            </a:r>
            <a:r>
              <a:rPr dirty="0" err="1"/>
              <a:t>vs</a:t>
            </a:r>
            <a:r>
              <a:rPr dirty="0"/>
              <a:t> what </a:t>
            </a:r>
            <a:r>
              <a:rPr dirty="0" err="1"/>
              <a:t>QuMail</a:t>
            </a:r>
            <a:r>
              <a:rPr dirty="0"/>
              <a:t>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Ciphertext envelope and .qenc attachment in Gmail; decrypted image in QuMail.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10661904" cy="292608"/>
          </a:xfrm>
          <a:prstGeom prst="rect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" y="1828800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" y="1828800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3550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2ED3B7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2029968"/>
            <a:ext cx="10661904" cy="41630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32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5F7FA"/>
                </a:solidFill>
                <a:latin typeface="Segoe UI"/>
              </a:defRPr>
            </a:pPr>
            <a:r>
              <a:t>Level 3 — One-Time 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Small file decrypts; a 5.7 MB file is stopped before sending because the key bank is too small.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10661904" cy="292608"/>
          </a:xfrm>
          <a:prstGeom prst="rect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" y="1828800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" y="1828800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3550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2ED3B7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84" y="2048256"/>
            <a:ext cx="10628528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5F7FA"/>
                </a:solidFill>
                <a:latin typeface="Segoe UI"/>
              </a:defRPr>
            </a:pPr>
            <a:r>
              <a:t>When keys run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Bank empty → only Level 1 offered. KM offline → clear message, nothing breaks.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48056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10661904" cy="292608"/>
          </a:xfrm>
          <a:prstGeom prst="rect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" y="1828800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" y="1828800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screenshot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35508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5875">
            <a:solidFill>
              <a:srgbClr val="2ED3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100" b="1">
                <a:solidFill>
                  <a:srgbClr val="2ED3B7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2048256"/>
            <a:ext cx="10661903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Built with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2ED3B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pull requests, all reviewed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2ED3B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9184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2ED3B7"/>
                </a:solidFill>
                <a:latin typeface="Segoe UI"/>
              </a:defRPr>
            </a:pPr>
            <a: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crypto &amp; KM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214884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2ED3B7"/>
                </a:solidFill>
                <a:latin typeface="Segoe UI"/>
              </a:defRPr>
            </a:pPr>
            <a:r>
              <a:t>3/4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9184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levels working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Jira ticket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04288" y="4937760"/>
            <a:ext cx="23774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603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feature branch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33087" y="4937760"/>
            <a:ext cx="23774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pull request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61888" y="4937760"/>
            <a:ext cx="237743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179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CI green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90688" y="4937760"/>
            <a:ext cx="237743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467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19488" y="4937760"/>
            <a:ext cx="237744" cy="0"/>
          </a:xfrm>
          <a:prstGeom prst="line">
            <a:avLst/>
          </a:prstGeom>
          <a:ln w="25400">
            <a:solidFill>
              <a:srgbClr val="2ED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46634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172136"/>
          </a:solidFill>
          <a:ln w="12700">
            <a:solidFill>
              <a:srgbClr val="2A3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46634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5F7FA"/>
                </a:solidFill>
                <a:latin typeface="Segoe UI"/>
              </a:defRPr>
            </a:pPr>
            <a: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AA6B8"/>
                </a:solidFill>
                <a:latin typeface="Segoe UI"/>
              </a:defRPr>
            </a:pPr>
            <a:r>
              <a:t>develop branch is protected — nothing merges without passing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ED3B7"/>
                </a:solidFill>
                <a:latin typeface="Segoe UI"/>
              </a:defRPr>
            </a:pPr>
            <a:r>
              <a:t>Real mail is messy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Antivirus tools rewrite mails and drop big uploads — the parser and the IMAP client had to become tolerant.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ED3B7"/>
                </a:solidFill>
                <a:latin typeface="Segoe UI"/>
              </a:defRPr>
            </a:pPr>
            <a:r>
              <a:t>OTP is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A 100-key bank covers 100 KB. The client now tells you before sending, instead of failing midway.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ED3B7"/>
                </a:solidFill>
                <a:latin typeface="Segoe UI"/>
              </a:defRPr>
            </a:pPr>
            <a:r>
              <a:t>Keys need a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Reserve → use → consume. A failed send must burn its key, or it is reused by accident.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5F7FA"/>
                </a:solidFill>
                <a:latin typeface="Segoe UI"/>
              </a:defRPr>
            </a:pPr>
            <a: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914400" cy="45720"/>
          </a:xfrm>
          <a:prstGeom prst="rect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3566160"/>
            <a:ext cx="9966960" cy="45720"/>
          </a:xfrm>
          <a:prstGeom prst="rect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3429000"/>
            <a:ext cx="310896" cy="310896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9319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5F7FA"/>
                </a:solidFill>
                <a:latin typeface="Segoe UI"/>
              </a:defRPr>
            </a:pPr>
            <a:r>
              <a:t>Level 4 (post-quantum)</a:t>
            </a:r>
          </a:p>
        </p:txBody>
      </p:sp>
      <p:sp>
        <p:nvSpPr>
          <p:cNvPr id="9" name="Oval 8"/>
          <p:cNvSpPr/>
          <p:nvPr/>
        </p:nvSpPr>
        <p:spPr>
          <a:xfrm>
            <a:off x="3410712" y="3429000"/>
            <a:ext cx="310896" cy="310896"/>
          </a:xfrm>
          <a:prstGeom prst="ellipse">
            <a:avLst/>
          </a:prstGeom>
          <a:solidFill>
            <a:srgbClr val="2ED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5F7FA"/>
                </a:solidFill>
                <a:latin typeface="Segoe UI"/>
              </a:defRPr>
            </a:pPr>
            <a:r>
              <a:t>Yahoo &amp; multi-account</a:t>
            </a:r>
          </a:p>
        </p:txBody>
      </p:sp>
      <p:sp>
        <p:nvSpPr>
          <p:cNvPr id="11" name="Oval 10"/>
          <p:cNvSpPr/>
          <p:nvPr/>
        </p:nvSpPr>
        <p:spPr>
          <a:xfrm>
            <a:off x="5879592" y="3429000"/>
            <a:ext cx="310896" cy="310896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39319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F7FA"/>
                </a:solidFill>
                <a:latin typeface="Segoe UI"/>
              </a:defRPr>
            </a:pPr>
            <a:r>
              <a:t>UI polish &amp; settings</a:t>
            </a:r>
          </a:p>
        </p:txBody>
      </p:sp>
      <p:sp>
        <p:nvSpPr>
          <p:cNvPr id="13" name="Oval 12"/>
          <p:cNvSpPr/>
          <p:nvPr/>
        </p:nvSpPr>
        <p:spPr>
          <a:xfrm>
            <a:off x="8348472" y="3429000"/>
            <a:ext cx="310896" cy="310896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651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F7FA"/>
                </a:solidFill>
                <a:latin typeface="Segoe UI"/>
              </a:defRPr>
            </a:pPr>
            <a:r>
              <a:t>Security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10817352" y="3429000"/>
            <a:ext cx="310896" cy="310896"/>
          </a:xfrm>
          <a:prstGeom prst="ellipse">
            <a:avLst/>
          </a:prstGeom>
          <a:solidFill>
            <a:srgbClr val="2A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0" y="39319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F7FA"/>
                </a:solidFill>
                <a:latin typeface="Segoe UI"/>
              </a:defRPr>
            </a:pPr>
            <a:r>
              <a:t>Clean-machine test &amp; final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AA6B8"/>
                </a:solidFill>
                <a:latin typeface="Segoe UI"/>
              </a:defRPr>
            </a:pPr>
            <a:r>
              <a:t>Week 3: Level 4 + accounts      ·      Week 4: hardening, docs,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5400" b="1">
                <a:solidFill>
                  <a:srgbClr val="F5F7F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2ED3B7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AA6B8"/>
                </a:solidFill>
                <a:latin typeface="Segoe UI"/>
              </a:defRPr>
            </a:pPr>
            <a:r>
              <a:t>github.com/sharmaanika0010-droid/Major-Project---Quantum-Secure-Email-Client-Application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524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2026-10-21T15:02:42Z</dcterms:modified>
  <cp:category/>
</cp:coreProperties>
</file>